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Image asset: https://huggingface.co/front/assets/promo/reachy.png
- Reachy Mini introduction: https://huggingface.co/blog/reachy-mini
- User-provided summary text and source files in this conversation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Python SDK reference (recording moves): https://huggingface.co/docs/reachy_mini/SDK/python-sdk
- User-provided summary text in this conversation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file: recorded_moves_origin.py
- Official Recorded Moves example: https://huggingface.co/docs/reachy_mini/en/examples/recorded_moves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Python SDK reference: https://huggingface.co/docs/reachy_mini/SDK/python-sdk
- Media Architecture: https://huggingface.co/docs/reachy_mini/en/SDK/media-architecture
- Sound Recording example: https://huggingface.co/docs/reachy_mini/examples/sound_record
- Custom Media Manager example: https://huggingface.co/docs/reachy_mini/en/examples/custom_media_manager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Motion API reference (RecordedMove / RecordedMoves): https://huggingface.co/docs/reachy_mini/API/motion
- ReachyMini API reference (`play_move`): https://huggingface.co/docs/reachy_mini/API/reachymini
- User-provided summary text in this conversation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files: recorded_moves_origin.py, recorded_motion.py
- Motion API reference: https://huggingface.co/docs/reachy_mini/API/motion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file: recorded_motion.py
- Media Architecture: https://huggingface.co/docs/reachy_mini/en/SDK/media-architecture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file: recorded_motion.py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files: recorded_moves_origin.py, recorded_motion.py
- User-provided comparison notes in this conversation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files: recorded_moves_origin.py, recorded_motion.py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source files and summary notes in this conversation
- Motion API reference: https://huggingface.co/docs/reachy_mini/API/motion
- Media Architecture: https://huggingface.co/docs/reachy_mini/en/SDK/media-architecture
- ReachyMini API reference: https://huggingface.co/docs/reachy_mini/API/reachymini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6848" y="310896"/>
            <a:ext cx="164592" cy="164592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94592" y="310896"/>
            <a:ext cx="164592" cy="164592"/>
          </a:xfrm>
          <a:prstGeom prst="rect">
            <a:avLst/>
          </a:prstGeom>
          <a:solidFill>
            <a:srgbClr val="53E0C6">
              <a:alpha val="90000"/>
            </a:srgbClr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54864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6주차 STUDY DECK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68096" y="100584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 Mini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동작 녹화와 재생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04672" y="248716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예제의 HF 재생 구조를 이해하고, 수정한 코드에서 로컬 녹화·저장·재생까지 이어지는 전체 흐름을 정리합니다.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969264" y="4187952"/>
            <a:ext cx="749808" cy="0"/>
          </a:xfrm>
          <a:prstGeom prst="line">
            <a:avLst/>
          </a:prstGeom>
          <a:noFill/>
          <a:ln w="3048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32304" y="4187952"/>
            <a:ext cx="749808" cy="0"/>
          </a:xfrm>
          <a:prstGeom prst="line">
            <a:avLst/>
          </a:prstGeom>
          <a:noFill/>
          <a:ln w="3048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95344" y="4187952"/>
            <a:ext cx="749808" cy="0"/>
          </a:xfrm>
          <a:prstGeom prst="line">
            <a:avLst/>
          </a:prstGeom>
          <a:noFill/>
          <a:ln w="3048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3968496"/>
            <a:ext cx="896112" cy="420624"/>
          </a:xfrm>
          <a:prstGeom prst="roundRect">
            <a:avLst>
              <a:gd name="adj" fmla="val 26087"/>
            </a:avLst>
          </a:prstGeom>
          <a:solidFill>
            <a:srgbClr val="53E0C6"/>
          </a:solidFill>
          <a:ln w="10160">
            <a:solidFill>
              <a:srgbClr val="53E0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4014216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0" y="3968496"/>
            <a:ext cx="749808" cy="420624"/>
          </a:xfrm>
          <a:prstGeom prst="roundRect">
            <a:avLst>
              <a:gd name="adj" fmla="val 26087"/>
            </a:avLst>
          </a:prstGeom>
          <a:solidFill>
            <a:srgbClr val="60A5FA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0864" y="40142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녹화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3968496"/>
            <a:ext cx="987552" cy="420624"/>
          </a:xfrm>
          <a:prstGeom prst="roundRect">
            <a:avLst>
              <a:gd name="adj" fmla="val 26087"/>
            </a:avLst>
          </a:prstGeom>
          <a:solidFill>
            <a:srgbClr val="F7C873"/>
          </a:solidFill>
          <a:ln w="10160">
            <a:solidFill>
              <a:srgbClr val="F7C8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03904" y="401421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 저장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93792" y="3968496"/>
            <a:ext cx="749808" cy="420624"/>
          </a:xfrm>
          <a:prstGeom prst="roundRect">
            <a:avLst>
              <a:gd name="adj" fmla="val 26087"/>
            </a:avLst>
          </a:prstGeom>
          <a:solidFill>
            <a:srgbClr val="F472B6"/>
          </a:solidFill>
          <a:ln w="1016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48656" y="40142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7183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키워드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7824" y="5070348"/>
            <a:ext cx="54864" cy="54864"/>
          </a:xfrm>
          <a:prstGeom prst="ellipse">
            <a:avLst/>
          </a:prstGeom>
          <a:solidFill>
            <a:srgbClr val="53E0C6"/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9926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RecordedMoves / RecordedMove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877824" y="5399532"/>
            <a:ext cx="54864" cy="5486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53218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start_recording() → stop_recording()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77824" y="5728716"/>
            <a:ext cx="54864" cy="54864"/>
          </a:xfrm>
          <a:prstGeom prst="ellipse">
            <a:avLst/>
          </a:prstGeom>
          <a:solidFill>
            <a:srgbClr val="F7C873"/>
          </a:solidFill>
          <a:ln w="12700">
            <a:solidFill>
              <a:srgbClr val="F7C87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6509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recorded_motion.py vs recorded_moves_origin.py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6720840" y="658368"/>
            <a:ext cx="4773168" cy="5486400"/>
          </a:xfrm>
          <a:prstGeom prst="roundRect">
            <a:avLst>
              <a:gd name="adj" fmla="val 2299"/>
            </a:avLst>
          </a:prstGeom>
          <a:solidFill>
            <a:srgbClr val="0E1730"/>
          </a:solidFill>
          <a:ln w="1524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9050" dir="2700000">
              <a:srgbClr val="000000">
                <a:alpha val="20000"/>
              </a:srgbClr>
            </a:outerShdw>
          </a:effectLst>
        </p:spPr>
      </p:sp>
      <p:pic>
        <p:nvPicPr>
          <p:cNvPr id="26" name="Image 0" descr="/mnt/data/reachy_pro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9712" y="1083564"/>
            <a:ext cx="4526280" cy="45262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004304" y="5870448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Hugging Face / Pollen Robotics Reachy Mini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11448288" y="64556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B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6848" y="310896"/>
            <a:ext cx="164592" cy="164592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94592" y="310896"/>
            <a:ext cx="164592" cy="164592"/>
          </a:xfrm>
          <a:prstGeom prst="rect">
            <a:avLst/>
          </a:prstGeom>
          <a:solidFill>
            <a:srgbClr val="53E0C6">
              <a:alpha val="90000"/>
            </a:srgbClr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9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 MINI STUDY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58521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이번 주차의 핵심과 학습 목표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0584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17320"/>
            <a:ext cx="4526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"영상"이 아니라 로봇의 자세·동작 데이터를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시간 순서대로 기록하고 다시 재생하는 주차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86384" y="2331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 → Save → Replay 흐름을 이해하면, 공식 예제와 내 코드가 어디서 같고 어디서 달라지는지 한 번에 정리할 수 있다.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1143000" y="3822192"/>
            <a:ext cx="128016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3822192"/>
            <a:ext cx="128016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6384" y="3328416"/>
            <a:ext cx="1234440" cy="786384"/>
          </a:xfrm>
          <a:prstGeom prst="roundRect">
            <a:avLst>
              <a:gd name="adj" fmla="val 9302"/>
            </a:avLst>
          </a:prstGeom>
          <a:solidFill>
            <a:srgbClr val="123D42"/>
          </a:solidFill>
          <a:ln w="12700">
            <a:solidFill>
              <a:srgbClr val="53E0C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" y="3419856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651760" y="3328416"/>
            <a:ext cx="1234440" cy="786384"/>
          </a:xfrm>
          <a:prstGeom prst="roundRect">
            <a:avLst>
              <a:gd name="adj" fmla="val 9302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3419856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Save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17136" y="3328416"/>
            <a:ext cx="1234440" cy="786384"/>
          </a:xfrm>
          <a:prstGeom prst="roundRect">
            <a:avLst>
              <a:gd name="adj" fmla="val 9302"/>
            </a:avLst>
          </a:prstGeom>
          <a:solidFill>
            <a:srgbClr val="3D2D10"/>
          </a:solidFill>
          <a:ln w="12700">
            <a:solidFill>
              <a:srgbClr val="F7C87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08576" y="3419856"/>
            <a:ext cx="1051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Replay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5340096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27648" y="1609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A5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학습 목표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7648" y="2112264"/>
            <a:ext cx="73152" cy="73152"/>
          </a:xfrm>
          <a:prstGeom prst="ellipse">
            <a:avLst/>
          </a:prstGeom>
          <a:solidFill>
            <a:srgbClr val="53E0C6"/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3952" y="20116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HF dataset 기반 recorded move 재생 구조 이해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6327648" y="2569464"/>
            <a:ext cx="73152" cy="73152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73952" y="24688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`start_recording()` / `stop_recording()` 흐름 이해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6327648" y="3026664"/>
            <a:ext cx="73152" cy="73152"/>
          </a:xfrm>
          <a:prstGeom prst="ellipse">
            <a:avLst/>
          </a:prstGeom>
          <a:solidFill>
            <a:srgbClr val="F7C873"/>
          </a:solidFill>
          <a:ln w="12700">
            <a:solidFill>
              <a:srgbClr val="F7C87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29260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 저장 → `RecordedMove` → `play_move()` 연결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6327648" y="3483864"/>
            <a:ext cx="73152" cy="7315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73952" y="33832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예제와 수정 코드의 역할 차이 파악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6309360" y="4224528"/>
            <a:ext cx="4846320" cy="1051560"/>
          </a:xfrm>
          <a:prstGeom prst="roundRect">
            <a:avLst>
              <a:gd name="adj" fmla="val 10435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4407408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메시지</a:t>
            </a:r>
            <a:endParaRPr lang="en-US" sz="1420" dirty="0"/>
          </a:p>
          <a:p>
            <a:pPr indent="0" marL="0">
              <a:buNone/>
            </a:pPr>
            <a:r>
              <a:rPr lang="en-US" sz="14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예제는 이미 만든 동작을 재생하고, 수정 코드는 내가 만든 동작을 저장하고 다시 재생한다.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11448288" y="64556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B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6848" y="310896"/>
            <a:ext cx="164592" cy="164592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94592" y="310896"/>
            <a:ext cx="164592" cy="164592"/>
          </a:xfrm>
          <a:prstGeom prst="rect">
            <a:avLst/>
          </a:prstGeom>
          <a:solidFill>
            <a:srgbClr val="53E0C6">
              <a:alpha val="90000"/>
            </a:srgbClr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9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 MINI STUDY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58521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 `recorded_moves_origin.py` 읽기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0584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417320"/>
            <a:ext cx="5623560" cy="4251960"/>
          </a:xfrm>
          <a:prstGeom prst="roundRect">
            <a:avLst>
              <a:gd name="adj" fmla="val 1720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32688" y="14904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샘플 핵심 루프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14400" y="1728216"/>
            <a:ext cx="5330952" cy="0"/>
          </a:xfrm>
          <a:prstGeom prst="line">
            <a:avLst/>
          </a:prstGeom>
          <a:noFill/>
          <a:ln w="12700">
            <a:solidFill>
              <a:srgbClr val="2A3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801368"/>
            <a:ext cx="5312664" cy="3758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recorded_moves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RecordedMoves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dataset_path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ReachyMini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reachy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move_name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recorded_moves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list_moves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move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recorded_moves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move_name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reachy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play_move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initial_goto_duration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7333488" y="2148840"/>
            <a:ext cx="676656" cy="0"/>
          </a:xfrm>
          <a:prstGeom prst="line">
            <a:avLst/>
          </a:prstGeom>
          <a:noFill/>
          <a:ln w="2667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988552" y="2148840"/>
            <a:ext cx="676656" cy="0"/>
          </a:xfrm>
          <a:prstGeom prst="line">
            <a:avLst/>
          </a:prstGeom>
          <a:noFill/>
          <a:ln w="2667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0579608" y="2148840"/>
            <a:ext cx="475488" cy="0"/>
          </a:xfrm>
          <a:prstGeom prst="line">
            <a:avLst/>
          </a:prstGeom>
          <a:noFill/>
          <a:ln w="2667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65392" y="1810512"/>
            <a:ext cx="676656" cy="347472"/>
          </a:xfrm>
          <a:prstGeom prst="roundRect">
            <a:avLst>
              <a:gd name="adj" fmla="val 31579"/>
            </a:avLst>
          </a:prstGeom>
          <a:solidFill>
            <a:srgbClr val="F7C873"/>
          </a:solidFill>
          <a:ln w="10160">
            <a:solidFill>
              <a:srgbClr val="F7C8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185623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55664" y="2249424"/>
            <a:ext cx="896112" cy="347472"/>
          </a:xfrm>
          <a:prstGeom prst="roundRect">
            <a:avLst>
              <a:gd name="adj" fmla="val 31579"/>
            </a:avLst>
          </a:prstGeom>
          <a:solidFill>
            <a:srgbClr val="F7C873"/>
          </a:solidFill>
          <a:ln w="10160">
            <a:solidFill>
              <a:srgbClr val="F7C8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29514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emotions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91856" y="1682496"/>
            <a:ext cx="960120" cy="877824"/>
          </a:xfrm>
          <a:prstGeom prst="roundRect">
            <a:avLst>
              <a:gd name="adj" fmla="val 8333"/>
            </a:avLst>
          </a:prstGeom>
          <a:solidFill>
            <a:srgbClr val="16324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83296" y="1773936"/>
            <a:ext cx="777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RecordedMoves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(dataset)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637776" y="1682496"/>
            <a:ext cx="932688" cy="877824"/>
          </a:xfrm>
          <a:prstGeom prst="roundRect">
            <a:avLst>
              <a:gd name="adj" fmla="val 8333"/>
            </a:avLst>
          </a:prstGeom>
          <a:solidFill>
            <a:srgbClr val="173C2E"/>
          </a:solidFill>
          <a:ln w="12700">
            <a:solidFill>
              <a:srgbClr val="53E0C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729216" y="1773936"/>
            <a:ext cx="7498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list_moves()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0991088" y="1682496"/>
            <a:ext cx="841248" cy="877824"/>
          </a:xfrm>
          <a:prstGeom prst="roundRect">
            <a:avLst>
              <a:gd name="adj" fmla="val 8696"/>
            </a:avLst>
          </a:prstGeom>
          <a:solidFill>
            <a:srgbClr val="412C11"/>
          </a:solidFill>
          <a:ln w="12700">
            <a:solidFill>
              <a:srgbClr val="F7C87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1082528" y="1773936"/>
            <a:ext cx="6583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get(name)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1411712" y="2596896"/>
            <a:ext cx="0" cy="1353312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634472" y="3986784"/>
            <a:ext cx="1554480" cy="841248"/>
          </a:xfrm>
          <a:prstGeom prst="roundRect">
            <a:avLst>
              <a:gd name="adj" fmla="val 8696"/>
            </a:avLst>
          </a:prstGeom>
          <a:solidFill>
            <a:srgbClr val="2D193A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725912" y="4078224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play_move()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565392" y="5074920"/>
            <a:ext cx="4864608" cy="1042416"/>
          </a:xfrm>
          <a:prstGeom prst="roundRect">
            <a:avLst>
              <a:gd name="adj" fmla="val 7018"/>
            </a:avLst>
          </a:prstGeom>
          <a:solidFill>
            <a:srgbClr val="111A2F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84848" y="5399532"/>
            <a:ext cx="54864" cy="54864"/>
          </a:xfrm>
          <a:prstGeom prst="ellipse">
            <a:avLst/>
          </a:prstGeom>
          <a:solidFill>
            <a:srgbClr val="53E0C6"/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94576" y="53218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HF dataset에서 이미 저장된 동작을 불러와 재생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6784848" y="5673852"/>
            <a:ext cx="54864" cy="5486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4576" y="559612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`list_moves()` / `get()` / `play_move()` 중심 구조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6784848" y="5948172"/>
            <a:ext cx="54864" cy="54864"/>
          </a:xfrm>
          <a:prstGeom prst="ellipse">
            <a:avLst/>
          </a:prstGeom>
          <a:solidFill>
            <a:srgbClr val="F7C873"/>
          </a:solidFill>
          <a:ln w="12700">
            <a:solidFill>
              <a:srgbClr val="F7C87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94576" y="58704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재생 전용 · 데모 루프 성격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786384" y="5925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 = Hugging Face recorded-moves 라이브러리를 순회하는 재생기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11448288" y="64556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B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6848" y="310896"/>
            <a:ext cx="164592" cy="164592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94592" y="310896"/>
            <a:ext cx="164592" cy="164592"/>
          </a:xfrm>
          <a:prstGeom prst="rect">
            <a:avLst/>
          </a:prstGeom>
          <a:solidFill>
            <a:srgbClr val="53E0C6">
              <a:alpha val="90000"/>
            </a:srgbClr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9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 MINI STUDY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58521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`mini.start_recording()` vs `mini.media.start_recording()`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0584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0817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오디오는 `media` 객체로 빠졌고, 동작 기록은 본체 API일까?</a:t>
            </a:r>
            <a:endParaRPr lang="en-US" sz="1540" dirty="0"/>
          </a:p>
        </p:txBody>
      </p:sp>
      <p:sp>
        <p:nvSpPr>
          <p:cNvPr id="8" name="Shape 6"/>
          <p:cNvSpPr/>
          <p:nvPr/>
        </p:nvSpPr>
        <p:spPr>
          <a:xfrm>
            <a:off x="2862072" y="4480560"/>
            <a:ext cx="0" cy="804672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317736" y="4480560"/>
            <a:ext cx="0" cy="804672"/>
          </a:xfrm>
          <a:prstGeom prst="line">
            <a:avLst/>
          </a:prstGeom>
          <a:noFill/>
          <a:ln w="25400">
            <a:solidFill>
              <a:srgbClr val="F7C87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1874520"/>
            <a:ext cx="4069080" cy="2606040"/>
          </a:xfrm>
          <a:prstGeom prst="roundRect">
            <a:avLst>
              <a:gd name="adj" fmla="val 2807"/>
            </a:avLst>
          </a:prstGeom>
          <a:solidFill>
            <a:srgbClr val="13303A"/>
          </a:solidFill>
          <a:ln w="12700">
            <a:solidFill>
              <a:srgbClr val="53E0C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874520"/>
            <a:ext cx="4069080" cy="2606040"/>
          </a:xfrm>
          <a:prstGeom prst="roundRect">
            <a:avLst>
              <a:gd name="adj" fmla="val 2807"/>
            </a:avLst>
          </a:prstGeom>
          <a:solidFill>
            <a:srgbClr val="2A2410"/>
          </a:solidFill>
          <a:ln w="12700">
            <a:solidFill>
              <a:srgbClr val="F7C87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78992" y="2130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ReachyMini 본체</a:t>
            </a:r>
            <a:endParaRPr lang="en-US" sz="1620" dirty="0"/>
          </a:p>
        </p:txBody>
      </p:sp>
      <p:sp>
        <p:nvSpPr>
          <p:cNvPr id="13" name="Shape 11"/>
          <p:cNvSpPr/>
          <p:nvPr/>
        </p:nvSpPr>
        <p:spPr>
          <a:xfrm>
            <a:off x="1078992" y="2656332"/>
            <a:ext cx="54864" cy="54864"/>
          </a:xfrm>
          <a:prstGeom prst="ellipse">
            <a:avLst/>
          </a:prstGeom>
          <a:solidFill>
            <a:srgbClr val="53E0C6"/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257860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`goto_target()` · `play_move()`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1078992" y="2967228"/>
            <a:ext cx="54864" cy="5486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88950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`start_recording()` · `stop_recording()`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078992" y="3278124"/>
            <a:ext cx="54864" cy="54864"/>
          </a:xfrm>
          <a:prstGeom prst="ellipse">
            <a:avLst/>
          </a:prstGeom>
          <a:solidFill>
            <a:srgbClr val="7EE081"/>
          </a:solidFill>
          <a:ln w="12700">
            <a:solidFill>
              <a:srgbClr val="7EE081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2004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로봇의 자세·동작 제어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1078992" y="3589020"/>
            <a:ext cx="54864" cy="54864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51129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head / antennas / body_yaw 기록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6656832" y="2130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F7C8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mini.media / MediaManager</a:t>
            </a:r>
            <a:endParaRPr lang="en-US" sz="1620" dirty="0"/>
          </a:p>
        </p:txBody>
      </p:sp>
      <p:sp>
        <p:nvSpPr>
          <p:cNvPr id="22" name="Shape 20"/>
          <p:cNvSpPr/>
          <p:nvPr/>
        </p:nvSpPr>
        <p:spPr>
          <a:xfrm>
            <a:off x="6656832" y="2656332"/>
            <a:ext cx="54864" cy="54864"/>
          </a:xfrm>
          <a:prstGeom prst="ellipse">
            <a:avLst/>
          </a:prstGeom>
          <a:solidFill>
            <a:srgbClr val="F7C873"/>
          </a:solidFill>
          <a:ln w="12700">
            <a:solidFill>
              <a:srgbClr val="F7C87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0" y="257860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camera · microphone · speaker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656832" y="2967228"/>
            <a:ext cx="54864" cy="5486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889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`media.start_recording()`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656832" y="3278124"/>
            <a:ext cx="54864" cy="54864"/>
          </a:xfrm>
          <a:prstGeom prst="ellipse">
            <a:avLst/>
          </a:prstGeom>
          <a:solidFill>
            <a:srgbClr val="53E0C6"/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20040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`get_audio_sample()` 등 스트림 처리</a:t>
            </a:r>
            <a:endParaRPr lang="en-US" sz="1280" dirty="0"/>
          </a:p>
        </p:txBody>
      </p:sp>
      <p:sp>
        <p:nvSpPr>
          <p:cNvPr id="28" name="Shape 26"/>
          <p:cNvSpPr/>
          <p:nvPr/>
        </p:nvSpPr>
        <p:spPr>
          <a:xfrm>
            <a:off x="6656832" y="3589020"/>
            <a:ext cx="54864" cy="54864"/>
          </a:xfrm>
          <a:prstGeom prst="ellipse">
            <a:avLst/>
          </a:prstGeom>
          <a:solidFill>
            <a:srgbClr val="7EE081"/>
          </a:solidFill>
          <a:ln w="12700">
            <a:solidFill>
              <a:srgbClr val="7EE081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35112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장치 I/O와 backend 관리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2148840" y="5321808"/>
            <a:ext cx="7891272" cy="932688"/>
          </a:xfrm>
          <a:prstGeom prst="roundRect">
            <a:avLst>
              <a:gd name="adj" fmla="val 7843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377440" y="5513832"/>
            <a:ext cx="7452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정리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동작 기록은 로봇 제어 기능이라 `mini.*`에 있고, 오디오 녹음은 장치/스트림 기능이라 `mini.media.*`에 있다.</a:t>
            </a:r>
            <a:endParaRPr lang="en-US" sz="1410" dirty="0"/>
          </a:p>
          <a:p>
            <a:pPr indent="0" marL="0">
              <a:buNone/>
            </a:pPr>
            <a:r>
              <a:rPr lang="en-US" sz="141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`media_backend="no_media"`를 써도 robot control은 계속 사용할 수 있다.</a:t>
            </a:r>
            <a:endParaRPr lang="en-US" sz="1410" dirty="0"/>
          </a:p>
        </p:txBody>
      </p:sp>
      <p:sp>
        <p:nvSpPr>
          <p:cNvPr id="32" name="Text 30"/>
          <p:cNvSpPr/>
          <p:nvPr/>
        </p:nvSpPr>
        <p:spPr>
          <a:xfrm>
            <a:off x="11448288" y="64556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B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6848" y="310896"/>
            <a:ext cx="164592" cy="164592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94592" y="310896"/>
            <a:ext cx="164592" cy="164592"/>
          </a:xfrm>
          <a:prstGeom prst="rect">
            <a:avLst/>
          </a:prstGeom>
          <a:solidFill>
            <a:srgbClr val="53E0C6">
              <a:alpha val="90000"/>
            </a:srgbClr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9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 MINI STUDY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58521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RecordedMove · RecordedMoves · play_move 관계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0584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29968" y="2322576"/>
            <a:ext cx="731520" cy="0"/>
          </a:xfrm>
          <a:prstGeom prst="line">
            <a:avLst/>
          </a:prstGeom>
          <a:noFill/>
          <a:ln w="2667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39312" y="2322576"/>
            <a:ext cx="786384" cy="0"/>
          </a:xfrm>
          <a:prstGeom prst="line">
            <a:avLst/>
          </a:prstGeom>
          <a:noFill/>
          <a:ln w="2667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340096" y="2322576"/>
            <a:ext cx="914400" cy="0"/>
          </a:xfrm>
          <a:prstGeom prst="line">
            <a:avLst/>
          </a:prstGeom>
          <a:noFill/>
          <a:ln w="2667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281160" y="2468880"/>
            <a:ext cx="0" cy="960120"/>
          </a:xfrm>
          <a:prstGeom prst="line">
            <a:avLst/>
          </a:prstGeom>
          <a:noFill/>
          <a:ln w="25400">
            <a:solidFill>
              <a:srgbClr val="F7C87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1874520"/>
            <a:ext cx="1115568" cy="877824"/>
          </a:xfrm>
          <a:prstGeom prst="roundRect">
            <a:avLst>
              <a:gd name="adj" fmla="val 8333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965960"/>
            <a:ext cx="9326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 파일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2761488" y="1874520"/>
            <a:ext cx="1426464" cy="877824"/>
          </a:xfrm>
          <a:prstGeom prst="roundRect">
            <a:avLst>
              <a:gd name="adj" fmla="val 8333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52928" y="1965960"/>
            <a:ext cx="12435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dict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(`json.loads`)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443984" y="1700784"/>
            <a:ext cx="1691640" cy="1225296"/>
          </a:xfrm>
          <a:prstGeom prst="roundRect">
            <a:avLst>
              <a:gd name="adj" fmla="val 5970"/>
            </a:avLst>
          </a:prstGeom>
          <a:solidFill>
            <a:srgbClr val="12333A"/>
          </a:solidFill>
          <a:ln w="12700">
            <a:solidFill>
              <a:srgbClr val="53E0C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35424" y="1792224"/>
            <a:ext cx="1508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RecordedMove</a:t>
            </a:r>
            <a:endParaRPr lang="en-US" sz="1520" dirty="0"/>
          </a:p>
          <a:p>
            <a:pPr algn="ctr" indent="0" marL="0">
              <a:buNone/>
            </a:pPr>
            <a:r>
              <a:rPr lang="en-US" sz="15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동작 1개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6327648" y="1874520"/>
            <a:ext cx="1627632" cy="877824"/>
          </a:xfrm>
          <a:prstGeom prst="roundRect">
            <a:avLst>
              <a:gd name="adj" fmla="val 8333"/>
            </a:avLst>
          </a:prstGeom>
          <a:solidFill>
            <a:srgbClr val="2D193A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19088" y="1965960"/>
            <a:ext cx="14447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`play_move()`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8211312" y="1700784"/>
            <a:ext cx="2139696" cy="1371600"/>
          </a:xfrm>
          <a:prstGeom prst="roundRect">
            <a:avLst>
              <a:gd name="adj" fmla="val 5333"/>
            </a:avLst>
          </a:prstGeom>
          <a:solidFill>
            <a:srgbClr val="111A2F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187452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재생 중 반복 호출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94192" y="2212848"/>
            <a:ext cx="493776" cy="292608"/>
          </a:xfrm>
          <a:prstGeom prst="roundRect">
            <a:avLst>
              <a:gd name="adj" fmla="val 37500"/>
            </a:avLst>
          </a:prstGeom>
          <a:solidFill>
            <a:srgbClr val="60A5FA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22585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t=0.0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9034272" y="2212848"/>
            <a:ext cx="493776" cy="292608"/>
          </a:xfrm>
          <a:prstGeom prst="roundRect">
            <a:avLst>
              <a:gd name="adj" fmla="val 37500"/>
            </a:avLst>
          </a:prstGeom>
          <a:solidFill>
            <a:srgbClr val="60A5FA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89136" y="22585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t=0.5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9674352" y="2212848"/>
            <a:ext cx="493776" cy="292608"/>
          </a:xfrm>
          <a:prstGeom prst="roundRect">
            <a:avLst>
              <a:gd name="adj" fmla="val 37500"/>
            </a:avLst>
          </a:prstGeom>
          <a:solidFill>
            <a:srgbClr val="60A5FA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29216" y="225856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t=1.0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394192" y="260604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`evaluate(t)` → head / antennas / body_yaw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394192" y="3511296"/>
            <a:ext cx="2926080" cy="1243584"/>
          </a:xfrm>
          <a:prstGeom prst="roundRect">
            <a:avLst>
              <a:gd name="adj" fmla="val 5882"/>
            </a:avLst>
          </a:prstGeom>
          <a:solidFill>
            <a:srgbClr val="2A2410"/>
          </a:solidFill>
          <a:ln w="12700">
            <a:solidFill>
              <a:srgbClr val="F7C87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68512" y="37033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C8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RecordedMoves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7C8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동작 모음집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8641080" y="4174236"/>
            <a:ext cx="54864" cy="54864"/>
          </a:xfrm>
          <a:prstGeom prst="ellipse">
            <a:avLst/>
          </a:prstGeom>
          <a:solidFill>
            <a:srgbClr val="F7C873"/>
          </a:solidFill>
          <a:ln w="12700">
            <a:solidFill>
              <a:srgbClr val="F7C87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50808" y="40965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`list_moves()`로 목록 조회</a:t>
            </a:r>
            <a:endParaRPr lang="en-US" sz="1280" dirty="0"/>
          </a:p>
        </p:txBody>
      </p:sp>
      <p:sp>
        <p:nvSpPr>
          <p:cNvPr id="32" name="Shape 30"/>
          <p:cNvSpPr/>
          <p:nvPr/>
        </p:nvSpPr>
        <p:spPr>
          <a:xfrm>
            <a:off x="8641080" y="4485132"/>
            <a:ext cx="54864" cy="54864"/>
          </a:xfrm>
          <a:prstGeom prst="ellipse">
            <a:avLst/>
          </a:prstGeom>
          <a:solidFill>
            <a:srgbClr val="53E0C6"/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50808" y="440740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`get()`으로 원하는 move 선택</a:t>
            </a:r>
            <a:endParaRPr lang="en-US" sz="1280" dirty="0"/>
          </a:p>
        </p:txBody>
      </p:sp>
      <p:sp>
        <p:nvSpPr>
          <p:cNvPr id="34" name="Shape 32"/>
          <p:cNvSpPr/>
          <p:nvPr/>
        </p:nvSpPr>
        <p:spPr>
          <a:xfrm>
            <a:off x="822960" y="3703320"/>
            <a:ext cx="6629400" cy="1764792"/>
          </a:xfrm>
          <a:prstGeom prst="roundRect">
            <a:avLst>
              <a:gd name="adj" fmla="val 4145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60704" y="391363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 정의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60704" y="4224528"/>
            <a:ext cx="6108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RecordedMove</a:t>
            </a:r>
            <a:pPr indent="0" marL="0">
              <a:buNone/>
            </a:pPr>
            <a:r>
              <a:rPr lang="en-US" sz="136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= JSON에 담긴 `(time, set_target_data)` 키프레임을 바탕으로, 재생 시각마다 목표 자세를 계산하는 단일 동작 객체</a:t>
            </a:r>
            <a:endParaRPr lang="en-US" sz="1360" dirty="0"/>
          </a:p>
        </p:txBody>
      </p:sp>
      <p:sp>
        <p:nvSpPr>
          <p:cNvPr id="37" name="Text 35"/>
          <p:cNvSpPr/>
          <p:nvPr/>
        </p:nvSpPr>
        <p:spPr>
          <a:xfrm>
            <a:off x="1060704" y="4736592"/>
            <a:ext cx="6108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7C8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RecordedMoves</a:t>
            </a:r>
            <a:pPr indent="0" marL="0">
              <a:buNone/>
            </a:pPr>
            <a:r>
              <a:rPr lang="en-US" sz="136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= 여러 `RecordedMove`를 불러오고 조회하는 컬렉션 객체</a:t>
            </a:r>
            <a:endParaRPr lang="en-US" sz="1360" dirty="0"/>
          </a:p>
        </p:txBody>
      </p:sp>
      <p:sp>
        <p:nvSpPr>
          <p:cNvPr id="38" name="Shape 36"/>
          <p:cNvSpPr/>
          <p:nvPr/>
        </p:nvSpPr>
        <p:spPr>
          <a:xfrm>
            <a:off x="841248" y="5733288"/>
            <a:ext cx="6473952" cy="566928"/>
          </a:xfrm>
          <a:prstGeom prst="roundRect">
            <a:avLst>
              <a:gd name="adj" fmla="val 19355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" y="5888736"/>
            <a:ext cx="6016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1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중요: `play_move()`는 JSON을 직접 이해하지 않는다. Move 객체만 받는다.</a:t>
            </a:r>
            <a:endParaRPr lang="en-US" sz="1410" dirty="0"/>
          </a:p>
        </p:txBody>
      </p:sp>
      <p:sp>
        <p:nvSpPr>
          <p:cNvPr id="40" name="Text 38"/>
          <p:cNvSpPr/>
          <p:nvPr/>
        </p:nvSpPr>
        <p:spPr>
          <a:xfrm>
            <a:off x="11448288" y="64556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B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6848" y="310896"/>
            <a:ext cx="164592" cy="164592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94592" y="310896"/>
            <a:ext cx="164592" cy="164592"/>
          </a:xfrm>
          <a:prstGeom prst="rect">
            <a:avLst/>
          </a:prstGeom>
          <a:solidFill>
            <a:srgbClr val="53E0C6">
              <a:alpha val="90000"/>
            </a:srgbClr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9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 MINI STUDY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58521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같은 재생 엔진, 다른 데이터 입력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0584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389888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예제와 수정 코드는 마지막에 같은 `play_move()` 엔진으로 합쳐진다.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2066544" y="2450592"/>
            <a:ext cx="658368" cy="0"/>
          </a:xfrm>
          <a:prstGeom prst="line">
            <a:avLst/>
          </a:prstGeom>
          <a:noFill/>
          <a:ln w="2667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30752" y="2450592"/>
            <a:ext cx="658368" cy="0"/>
          </a:xfrm>
          <a:prstGeom prst="line">
            <a:avLst/>
          </a:prstGeom>
          <a:noFill/>
          <a:ln w="2667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376672" y="2450592"/>
            <a:ext cx="713232" cy="0"/>
          </a:xfrm>
          <a:prstGeom prst="line">
            <a:avLst/>
          </a:prstGeom>
          <a:noFill/>
          <a:ln w="2667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49424" y="4224528"/>
            <a:ext cx="603504" cy="0"/>
          </a:xfrm>
          <a:prstGeom prst="line">
            <a:avLst/>
          </a:prstGeom>
          <a:noFill/>
          <a:ln w="2667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85616" y="4224528"/>
            <a:ext cx="603504" cy="0"/>
          </a:xfrm>
          <a:prstGeom prst="line">
            <a:avLst/>
          </a:prstGeom>
          <a:noFill/>
          <a:ln w="2667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21808" y="4224528"/>
            <a:ext cx="603504" cy="0"/>
          </a:xfrm>
          <a:prstGeom prst="line">
            <a:avLst/>
          </a:prstGeom>
          <a:noFill/>
          <a:ln w="2667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0" y="4224528"/>
            <a:ext cx="603504" cy="0"/>
          </a:xfrm>
          <a:prstGeom prst="line">
            <a:avLst/>
          </a:prstGeom>
          <a:noFill/>
          <a:ln w="26670">
            <a:solidFill>
              <a:srgbClr val="53E0C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74736" y="2670048"/>
            <a:ext cx="1426464" cy="841248"/>
          </a:xfrm>
          <a:prstGeom prst="line">
            <a:avLst/>
          </a:prstGeom>
          <a:noFill/>
          <a:ln w="26670">
            <a:solidFill>
              <a:srgbClr val="F7C87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93024" y="4443984"/>
            <a:ext cx="1408176" cy="-493776"/>
          </a:xfrm>
          <a:prstGeom prst="line">
            <a:avLst/>
          </a:prstGeom>
          <a:noFill/>
          <a:ln w="26670">
            <a:solidFill>
              <a:srgbClr val="F7C873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77824" y="1856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A5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2157984"/>
            <a:ext cx="1133856" cy="621792"/>
          </a:xfrm>
          <a:prstGeom prst="roundRect">
            <a:avLst>
              <a:gd name="adj" fmla="val 11765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2249424"/>
            <a:ext cx="950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HF dataset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2724912" y="2157984"/>
            <a:ext cx="1005840" cy="621792"/>
          </a:xfrm>
          <a:prstGeom prst="roundRect">
            <a:avLst>
              <a:gd name="adj" fmla="val 11765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16352" y="2249424"/>
            <a:ext cx="822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RecordedMoves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4389120" y="2157984"/>
            <a:ext cx="987552" cy="621792"/>
          </a:xfrm>
          <a:prstGeom prst="roundRect">
            <a:avLst>
              <a:gd name="adj" fmla="val 11765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80560" y="2249424"/>
            <a:ext cx="804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`get(move)`</a:t>
            </a:r>
            <a:endParaRPr lang="en-US" sz="1360" dirty="0"/>
          </a:p>
        </p:txBody>
      </p:sp>
      <p:sp>
        <p:nvSpPr>
          <p:cNvPr id="24" name="Shape 22"/>
          <p:cNvSpPr/>
          <p:nvPr/>
        </p:nvSpPr>
        <p:spPr>
          <a:xfrm>
            <a:off x="6089904" y="2157984"/>
            <a:ext cx="1225296" cy="621792"/>
          </a:xfrm>
          <a:prstGeom prst="roundRect">
            <a:avLst>
              <a:gd name="adj" fmla="val 11765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81344" y="2249424"/>
            <a:ext cx="10424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`Move` 객체</a:t>
            </a:r>
            <a:endParaRPr lang="en-US" sz="1360" dirty="0"/>
          </a:p>
        </p:txBody>
      </p:sp>
      <p:sp>
        <p:nvSpPr>
          <p:cNvPr id="26" name="Text 24"/>
          <p:cNvSpPr/>
          <p:nvPr/>
        </p:nvSpPr>
        <p:spPr>
          <a:xfrm>
            <a:off x="877824" y="36301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 코드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22960" y="3931920"/>
            <a:ext cx="1426464" cy="621792"/>
          </a:xfrm>
          <a:prstGeom prst="roundRect">
            <a:avLst>
              <a:gd name="adj" fmla="val 11765"/>
            </a:avLst>
          </a:prstGeom>
          <a:solidFill>
            <a:srgbClr val="16352E"/>
          </a:solidFill>
          <a:ln w="12700">
            <a:solidFill>
              <a:srgbClr val="53E0C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4023360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`start_recording`</a:t>
            </a:r>
            <a:endParaRPr lang="en-US" sz="1320" dirty="0"/>
          </a:p>
        </p:txBody>
      </p:sp>
      <p:sp>
        <p:nvSpPr>
          <p:cNvPr id="29" name="Shape 27"/>
          <p:cNvSpPr/>
          <p:nvPr/>
        </p:nvSpPr>
        <p:spPr>
          <a:xfrm>
            <a:off x="2852928" y="3931920"/>
            <a:ext cx="932688" cy="621792"/>
          </a:xfrm>
          <a:prstGeom prst="roundRect">
            <a:avLst>
              <a:gd name="adj" fmla="val 11765"/>
            </a:avLst>
          </a:prstGeom>
          <a:solidFill>
            <a:srgbClr val="16352E"/>
          </a:solidFill>
          <a:ln w="12700">
            <a:solidFill>
              <a:srgbClr val="53E0C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944368" y="4023360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`stop_recording`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4389120" y="3931920"/>
            <a:ext cx="932688" cy="621792"/>
          </a:xfrm>
          <a:prstGeom prst="roundRect">
            <a:avLst>
              <a:gd name="adj" fmla="val 11765"/>
            </a:avLst>
          </a:prstGeom>
          <a:solidFill>
            <a:srgbClr val="16352E"/>
          </a:solidFill>
          <a:ln w="12700">
            <a:solidFill>
              <a:srgbClr val="53E0C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023360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normalize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5925312" y="3931920"/>
            <a:ext cx="932688" cy="621792"/>
          </a:xfrm>
          <a:prstGeom prst="roundRect">
            <a:avLst>
              <a:gd name="adj" fmla="val 11765"/>
            </a:avLst>
          </a:prstGeom>
          <a:solidFill>
            <a:srgbClr val="16352E"/>
          </a:solidFill>
          <a:ln w="12700">
            <a:solidFill>
              <a:srgbClr val="53E0C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016752" y="4023360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JSON 저장</a:t>
            </a:r>
            <a:endParaRPr lang="en-US" sz="1380" dirty="0"/>
          </a:p>
        </p:txBody>
      </p:sp>
      <p:sp>
        <p:nvSpPr>
          <p:cNvPr id="35" name="Shape 33"/>
          <p:cNvSpPr/>
          <p:nvPr/>
        </p:nvSpPr>
        <p:spPr>
          <a:xfrm>
            <a:off x="7461504" y="3931920"/>
            <a:ext cx="932688" cy="621792"/>
          </a:xfrm>
          <a:prstGeom prst="roundRect">
            <a:avLst>
              <a:gd name="adj" fmla="val 11765"/>
            </a:avLst>
          </a:prstGeom>
          <a:solidFill>
            <a:srgbClr val="16352E"/>
          </a:solidFill>
          <a:ln w="12700">
            <a:solidFill>
              <a:srgbClr val="53E0C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552944" y="4023360"/>
            <a:ext cx="7498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RecordedMove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9820656" y="3182112"/>
            <a:ext cx="1572768" cy="1078992"/>
          </a:xfrm>
          <a:prstGeom prst="roundRect">
            <a:avLst>
              <a:gd name="adj" fmla="val 6780"/>
            </a:avLst>
          </a:prstGeom>
          <a:solidFill>
            <a:srgbClr val="2D193A"/>
          </a:solidFill>
          <a:ln w="12700">
            <a:solidFill>
              <a:srgbClr val="F472B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912096" y="3273552"/>
            <a:ext cx="138988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`mini.play_move()`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939528" y="431596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경로도 · 로컬 경로도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마지막은 같은 재생 엔진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822960" y="5193792"/>
            <a:ext cx="10972800" cy="932688"/>
          </a:xfrm>
          <a:prstGeom prst="roundRect">
            <a:avLst>
              <a:gd name="adj" fmla="val 7843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133856" y="551383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요점: 차이는 “데이터 출처”이고, 재생 자체는 둘 다 `RecordedMove` / `Move`를 `play_move()`에 넘겨 실행한다.</a:t>
            </a:r>
            <a:endParaRPr lang="en-US" sz="1520" dirty="0"/>
          </a:p>
        </p:txBody>
      </p:sp>
      <p:sp>
        <p:nvSpPr>
          <p:cNvPr id="42" name="Text 40"/>
          <p:cNvSpPr/>
          <p:nvPr/>
        </p:nvSpPr>
        <p:spPr>
          <a:xfrm>
            <a:off x="11448288" y="64556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B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6848" y="310896"/>
            <a:ext cx="164592" cy="164592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94592" y="310896"/>
            <a:ext cx="164592" cy="164592"/>
          </a:xfrm>
          <a:prstGeom prst="rect">
            <a:avLst/>
          </a:prstGeom>
          <a:solidFill>
            <a:srgbClr val="53E0C6">
              <a:alpha val="90000"/>
            </a:srgbClr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9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 MINI STUDY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58521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내가 수정한 `recorded_motion.py` 구조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0584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08176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재생 예제에 녹화·저장·재생을 붙여, 실습에서 바로 실행할 수 있는 단일 도구로 확장했다.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1847088"/>
            <a:ext cx="4800600" cy="2340864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42416" y="20482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60A5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CLI 서브커맨드</a:t>
            </a:r>
            <a:endParaRPr lang="en-US" sz="1240" dirty="0"/>
          </a:p>
        </p:txBody>
      </p:sp>
      <p:sp>
        <p:nvSpPr>
          <p:cNvPr id="10" name="Shape 8"/>
          <p:cNvSpPr/>
          <p:nvPr/>
        </p:nvSpPr>
        <p:spPr>
          <a:xfrm>
            <a:off x="1042416" y="2414016"/>
            <a:ext cx="877824" cy="347472"/>
          </a:xfrm>
          <a:prstGeom prst="roundRect">
            <a:avLst>
              <a:gd name="adj" fmla="val 31579"/>
            </a:avLst>
          </a:prstGeom>
          <a:solidFill>
            <a:srgbClr val="53E0C6"/>
          </a:solidFill>
          <a:ln w="10160">
            <a:solidFill>
              <a:srgbClr val="53E0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5973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43230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동작 녹화 후 JSON 저장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1042416" y="2852928"/>
            <a:ext cx="877824" cy="347472"/>
          </a:xfrm>
          <a:prstGeom prst="roundRect">
            <a:avLst>
              <a:gd name="adj" fmla="val 31579"/>
            </a:avLst>
          </a:prstGeom>
          <a:solidFill>
            <a:srgbClr val="60A5FA"/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898648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play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87121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저장한 JSON 파일 재생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1042416" y="3291840"/>
            <a:ext cx="877824" cy="347472"/>
          </a:xfrm>
          <a:prstGeom prst="roundRect">
            <a:avLst>
              <a:gd name="adj" fmla="val 31579"/>
            </a:avLst>
          </a:prstGeom>
          <a:solidFill>
            <a:srgbClr val="F7C873"/>
          </a:solidFill>
          <a:ln w="10160">
            <a:solidFill>
              <a:srgbClr val="F7C8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337560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demo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03120" y="33101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녹화 후 바로 재생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1042416" y="3730752"/>
            <a:ext cx="877824" cy="347472"/>
          </a:xfrm>
          <a:prstGeom prst="roundRect">
            <a:avLst>
              <a:gd name="adj" fmla="val 31579"/>
            </a:avLst>
          </a:prstGeom>
          <a:solidFill>
            <a:srgbClr val="F472B6"/>
          </a:solidFill>
          <a:ln w="1016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3776472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hf-play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749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HF dataset 동작 재생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897880" y="1847088"/>
            <a:ext cx="5468112" cy="2697480"/>
          </a:xfrm>
          <a:prstGeom prst="roundRect">
            <a:avLst>
              <a:gd name="adj" fmla="val 2712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44768" y="20482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함수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6163056" y="235915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60A5F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connect_reachy()</a:t>
            </a:r>
            <a:endParaRPr lang="en-US" sz="1160" dirty="0"/>
          </a:p>
        </p:txBody>
      </p:sp>
      <p:sp>
        <p:nvSpPr>
          <p:cNvPr id="25" name="Text 23"/>
          <p:cNvSpPr/>
          <p:nvPr/>
        </p:nvSpPr>
        <p:spPr>
          <a:xfrm>
            <a:off x="8284464" y="23591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simulator-friendly 연결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6163056" y="269748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60A5F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normalize_recorded_data()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8284464" y="2697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raw recording → RecordedMove용 JSON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6163056" y="303580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60A5F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record_motion()</a:t>
            </a:r>
            <a:endParaRPr lang="en-US" sz="1160" dirty="0"/>
          </a:p>
        </p:txBody>
      </p:sp>
      <p:sp>
        <p:nvSpPr>
          <p:cNvPr id="29" name="Text 27"/>
          <p:cNvSpPr/>
          <p:nvPr/>
        </p:nvSpPr>
        <p:spPr>
          <a:xfrm>
            <a:off x="8284464" y="30358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녹화 + fallback + 파일 저장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6163056" y="33741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60A5F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play_motion()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8284464" y="33741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JSON → RecordedMove → 재생</a:t>
            </a:r>
            <a:endParaRPr lang="en-US" sz="1240" dirty="0"/>
          </a:p>
        </p:txBody>
      </p:sp>
      <p:sp>
        <p:nvSpPr>
          <p:cNvPr id="32" name="Text 30"/>
          <p:cNvSpPr/>
          <p:nvPr/>
        </p:nvSpPr>
        <p:spPr>
          <a:xfrm>
            <a:off x="6163056" y="371246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60A5F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play_hf_motion()</a:t>
            </a:r>
            <a:endParaRPr lang="en-US" sz="1160" dirty="0"/>
          </a:p>
        </p:txBody>
      </p:sp>
      <p:sp>
        <p:nvSpPr>
          <p:cNvPr id="33" name="Text 31"/>
          <p:cNvSpPr/>
          <p:nvPr/>
        </p:nvSpPr>
        <p:spPr>
          <a:xfrm>
            <a:off x="8284464" y="37124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HF dataset에서 선택 재생</a:t>
            </a:r>
            <a:endParaRPr lang="en-US" sz="1240" dirty="0"/>
          </a:p>
        </p:txBody>
      </p:sp>
      <p:sp>
        <p:nvSpPr>
          <p:cNvPr id="34" name="Text 32"/>
          <p:cNvSpPr/>
          <p:nvPr/>
        </p:nvSpPr>
        <p:spPr>
          <a:xfrm>
            <a:off x="6163056" y="405079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60A5FA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main()</a:t>
            </a:r>
            <a:endParaRPr lang="en-US" sz="1160" dirty="0"/>
          </a:p>
        </p:txBody>
      </p:sp>
      <p:sp>
        <p:nvSpPr>
          <p:cNvPr id="35" name="Text 33"/>
          <p:cNvSpPr/>
          <p:nvPr/>
        </p:nvSpPr>
        <p:spPr>
          <a:xfrm>
            <a:off x="8284464" y="4050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parser와 전체 흐름 분기</a:t>
            </a:r>
            <a:endParaRPr lang="en-US" sz="1240" dirty="0"/>
          </a:p>
        </p:txBody>
      </p:sp>
      <p:sp>
        <p:nvSpPr>
          <p:cNvPr id="36" name="Shape 34"/>
          <p:cNvSpPr/>
          <p:nvPr/>
        </p:nvSpPr>
        <p:spPr>
          <a:xfrm>
            <a:off x="822960" y="4791456"/>
            <a:ext cx="10561320" cy="1005840"/>
          </a:xfrm>
          <a:prstGeom prst="roundRect">
            <a:avLst>
              <a:gd name="adj" fmla="val 7273"/>
            </a:avLst>
          </a:prstGeom>
          <a:solidFill>
            <a:srgbClr val="132336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078992" y="4956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F7C8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환경을 위한 보정</a:t>
            </a:r>
            <a:endParaRPr lang="en-US" sz="1220" dirty="0"/>
          </a:p>
        </p:txBody>
      </p:sp>
      <p:sp>
        <p:nvSpPr>
          <p:cNvPr id="38" name="Shape 36"/>
          <p:cNvSpPr/>
          <p:nvPr/>
        </p:nvSpPr>
        <p:spPr>
          <a:xfrm>
            <a:off x="1078992" y="5362956"/>
            <a:ext cx="54864" cy="54864"/>
          </a:xfrm>
          <a:prstGeom prst="ellipse">
            <a:avLst/>
          </a:prstGeom>
          <a:solidFill>
            <a:srgbClr val="53E0C6"/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88720" y="528523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`ReachyMini(media_backend="no_media", log_level="ERROR")`</a:t>
            </a:r>
            <a:endParaRPr lang="en-US" sz="1280" dirty="0"/>
          </a:p>
        </p:txBody>
      </p:sp>
      <p:sp>
        <p:nvSpPr>
          <p:cNvPr id="40" name="Shape 38"/>
          <p:cNvSpPr/>
          <p:nvPr/>
        </p:nvSpPr>
        <p:spPr>
          <a:xfrm>
            <a:off x="4736592" y="5362956"/>
            <a:ext cx="54864" cy="5486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5285232"/>
            <a:ext cx="2697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`logging.getLogger().setLevel(logging.ERROR)`</a:t>
            </a:r>
            <a:endParaRPr lang="en-US" sz="1280" dirty="0"/>
          </a:p>
        </p:txBody>
      </p:sp>
      <p:sp>
        <p:nvSpPr>
          <p:cNvPr id="42" name="Shape 40"/>
          <p:cNvSpPr/>
          <p:nvPr/>
        </p:nvSpPr>
        <p:spPr>
          <a:xfrm>
            <a:off x="8193024" y="5362956"/>
            <a:ext cx="54864" cy="54864"/>
          </a:xfrm>
          <a:prstGeom prst="ellipse">
            <a:avLst/>
          </a:prstGeom>
          <a:solidFill>
            <a:srgbClr val="F7C873"/>
          </a:solidFill>
          <a:ln w="12700">
            <a:solidFill>
              <a:srgbClr val="F7C873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02752" y="528523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`mini.client.disconnect()`로 명시적 종료</a:t>
            </a:r>
            <a:endParaRPr lang="en-US" sz="1280" dirty="0"/>
          </a:p>
        </p:txBody>
      </p:sp>
      <p:sp>
        <p:nvSpPr>
          <p:cNvPr id="44" name="Text 42"/>
          <p:cNvSpPr/>
          <p:nvPr/>
        </p:nvSpPr>
        <p:spPr>
          <a:xfrm>
            <a:off x="11448288" y="64556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B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6848" y="310896"/>
            <a:ext cx="164592" cy="164592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94592" y="310896"/>
            <a:ext cx="164592" cy="164592"/>
          </a:xfrm>
          <a:prstGeom prst="rect">
            <a:avLst/>
          </a:prstGeom>
          <a:solidFill>
            <a:srgbClr val="53E0C6">
              <a:alpha val="90000"/>
            </a:srgbClr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9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 MINI STUDY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58521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녹화와 저장: JSON 포맷 + fallback 로직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0584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81328"/>
            <a:ext cx="530352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87552" y="15544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normalize_recorded_data()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69264" y="1792224"/>
            <a:ext cx="5010912" cy="0"/>
          </a:xfrm>
          <a:prstGeom prst="line">
            <a:avLst/>
          </a:prstGeom>
          <a:noFill/>
          <a:ln w="12700">
            <a:solidFill>
              <a:srgbClr val="2A3A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865376"/>
            <a:ext cx="4992624" cy="1929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"description"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f"Recorded at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datetime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isoformat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"time"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time_values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"set_target_data"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set_target_data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output_path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write_text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dumps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ensure_ascii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indent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6400800" y="1481328"/>
            <a:ext cx="4956048" cy="1847088"/>
          </a:xfrm>
          <a:prstGeom prst="roundRect">
            <a:avLst>
              <a:gd name="adj" fmla="val 3960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656832" y="17099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60A5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저장되는 핵심 구조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656832" y="2144268"/>
            <a:ext cx="54864" cy="54864"/>
          </a:xfrm>
          <a:prstGeom prst="ellipse">
            <a:avLst/>
          </a:prstGeom>
          <a:solidFill>
            <a:srgbClr val="F7C873"/>
          </a:solidFill>
          <a:ln w="12700">
            <a:solidFill>
              <a:srgbClr val="F7C87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06654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`description`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6656832" y="2455164"/>
            <a:ext cx="54864" cy="54864"/>
          </a:xfrm>
          <a:prstGeom prst="ellipse">
            <a:avLst/>
          </a:prstGeom>
          <a:solidFill>
            <a:srgbClr val="53E0C6"/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37744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`time`  → 각 프레임의 상대 시간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6656832" y="2766060"/>
            <a:ext cx="54864" cy="5486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6883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`set_target_data` → head / antennas / body_yaw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22960" y="4206240"/>
            <a:ext cx="10533888" cy="1783080"/>
          </a:xfrm>
          <a:prstGeom prst="roundRect">
            <a:avLst>
              <a:gd name="adj" fmla="val 4103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78992" y="4462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녹화 데이터가 비었을 때</a:t>
            </a:r>
            <a:endParaRPr lang="en-US" sz="1240" dirty="0"/>
          </a:p>
        </p:txBody>
      </p:sp>
      <p:sp>
        <p:nvSpPr>
          <p:cNvPr id="21" name="Shape 19"/>
          <p:cNvSpPr/>
          <p:nvPr/>
        </p:nvSpPr>
        <p:spPr>
          <a:xfrm>
            <a:off x="3520440" y="5093208"/>
            <a:ext cx="43891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793992" y="5093208"/>
            <a:ext cx="438912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78992" y="4754880"/>
            <a:ext cx="2331720" cy="676656"/>
          </a:xfrm>
          <a:prstGeom prst="roundRect">
            <a:avLst>
              <a:gd name="adj" fmla="val 10811"/>
            </a:avLst>
          </a:prstGeom>
          <a:solidFill>
            <a:srgbClr val="173C2E"/>
          </a:solidFill>
          <a:ln w="12700">
            <a:solidFill>
              <a:srgbClr val="53E0C6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70432" y="4846320"/>
            <a:ext cx="2148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manual 모드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포즈 20Hz 샘플링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3968496" y="4754880"/>
            <a:ext cx="2724912" cy="676656"/>
          </a:xfrm>
          <a:prstGeom prst="roundRect">
            <a:avLst>
              <a:gd name="adj" fmla="val 10811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059936" y="4846320"/>
            <a:ext cx="25420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모드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`goto_target()` 데모 포즈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7242048" y="4663440"/>
            <a:ext cx="2907792" cy="859536"/>
          </a:xfrm>
          <a:prstGeom prst="roundRect">
            <a:avLst>
              <a:gd name="adj" fmla="val 8511"/>
            </a:avLst>
          </a:prstGeom>
          <a:solidFill>
            <a:srgbClr val="412C11"/>
          </a:solidFill>
          <a:ln w="12700">
            <a:solidFill>
              <a:srgbClr val="F7C873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333488" y="4754880"/>
            <a:ext cx="2724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`stop_recording()` 결과가 비면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`fallback_frames`로 저장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1078992" y="6272784"/>
            <a:ext cx="996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즉, 시뮬레이터에서 SDK 버퍼가 비어도 로컬 저장 실습이 끊기지 않도록 대비한 구현이다.</a:t>
            </a:r>
            <a:endParaRPr lang="en-US" sz="1380" dirty="0"/>
          </a:p>
        </p:txBody>
      </p:sp>
      <p:sp>
        <p:nvSpPr>
          <p:cNvPr id="30" name="Text 28"/>
          <p:cNvSpPr/>
          <p:nvPr/>
        </p:nvSpPr>
        <p:spPr>
          <a:xfrm>
            <a:off x="11448288" y="64556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B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6848" y="310896"/>
            <a:ext cx="164592" cy="164592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94592" y="310896"/>
            <a:ext cx="164592" cy="164592"/>
          </a:xfrm>
          <a:prstGeom prst="rect">
            <a:avLst/>
          </a:prstGeom>
          <a:solidFill>
            <a:srgbClr val="53E0C6">
              <a:alpha val="90000"/>
            </a:srgbClr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9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 MINI STUDY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58521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 vs 수정 코드 비교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0584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81328"/>
            <a:ext cx="10561320" cy="4443984"/>
          </a:xfrm>
          <a:prstGeom prst="roundRect">
            <a:avLst>
              <a:gd name="adj" fmla="val 1646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0" y="1755648"/>
            <a:ext cx="0" cy="3858768"/>
          </a:xfrm>
          <a:prstGeom prst="line">
            <a:avLst/>
          </a:prstGeom>
          <a:noFill/>
          <a:ln w="15240">
            <a:solidFill>
              <a:srgbClr val="2A3A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78040" y="1755648"/>
            <a:ext cx="0" cy="3858768"/>
          </a:xfrm>
          <a:prstGeom prst="line">
            <a:avLst/>
          </a:prstGeom>
          <a:noFill/>
          <a:ln w="15240">
            <a:solidFill>
              <a:srgbClr val="2A3A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" y="2212848"/>
            <a:ext cx="10040112" cy="0"/>
          </a:xfrm>
          <a:prstGeom prst="line">
            <a:avLst/>
          </a:prstGeom>
          <a:noFill/>
          <a:ln w="12700">
            <a:solidFill>
              <a:srgbClr val="2A3A5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" y="2834640"/>
            <a:ext cx="10040112" cy="0"/>
          </a:xfrm>
          <a:prstGeom prst="line">
            <a:avLst/>
          </a:prstGeom>
          <a:noFill/>
          <a:ln w="12700">
            <a:solidFill>
              <a:srgbClr val="2A3A5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3456432"/>
            <a:ext cx="10040112" cy="0"/>
          </a:xfrm>
          <a:prstGeom prst="line">
            <a:avLst/>
          </a:prstGeom>
          <a:noFill/>
          <a:ln w="12700">
            <a:solidFill>
              <a:srgbClr val="2A3A5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4078224"/>
            <a:ext cx="10040112" cy="0"/>
          </a:xfrm>
          <a:prstGeom prst="line">
            <a:avLst/>
          </a:prstGeom>
          <a:noFill/>
          <a:ln w="12700">
            <a:solidFill>
              <a:srgbClr val="2A3A5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4700016"/>
            <a:ext cx="10040112" cy="0"/>
          </a:xfrm>
          <a:prstGeom prst="line">
            <a:avLst/>
          </a:prstGeom>
          <a:noFill/>
          <a:ln w="12700">
            <a:solidFill>
              <a:srgbClr val="2A3A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18105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항목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3127248" y="17099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60A5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60A5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recorded_moves_origin.py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7370064" y="170992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 코드</a:t>
            </a:r>
            <a:endParaRPr lang="en-US" sz="1420" dirty="0"/>
          </a:p>
          <a:p>
            <a:pPr algn="ctr" indent="0" marL="0">
              <a:buNone/>
            </a:pPr>
            <a:r>
              <a:rPr lang="en-US" sz="142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recorded_motion.py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1097280" y="2313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목적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3127248" y="23134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HF dataset에 있는 동작 재생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7370064" y="231343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직접 녹화해서 저장하고 다시 재생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1097280" y="29352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입력원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3127248" y="2935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Hugging Face recorded moves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7370064" y="2935224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JSON + HF dataset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1097280" y="355701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녹화/저장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3127248" y="35570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없음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7370064" y="3557016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`record` / `demo`로 가능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1097280" y="41788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재생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3127248" y="4178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`RecordedMoves → get() → play_move()`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7370064" y="4178808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`RecordedMove(JSON) → play_move()`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097280" y="48006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환경 보정</a:t>
            </a:r>
            <a:endParaRPr lang="en-US" sz="1280" dirty="0"/>
          </a:p>
        </p:txBody>
      </p:sp>
      <p:sp>
        <p:nvSpPr>
          <p:cNvPr id="31" name="Text 29"/>
          <p:cNvSpPr/>
          <p:nvPr/>
        </p:nvSpPr>
        <p:spPr>
          <a:xfrm>
            <a:off x="3127248" y="4800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기본 `ReachyMini()`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7370064" y="48006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`no_media` · logging 최소화 · fallback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1097280" y="542239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종료 처리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3127248" y="54223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context manager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7370064" y="542239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`mini.client.disconnect()` 명시 호출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2240280" y="6108192"/>
            <a:ext cx="7772400" cy="512064"/>
          </a:xfrm>
          <a:prstGeom prst="roundRect">
            <a:avLst>
              <a:gd name="adj" fmla="val 21429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68880" y="62544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한 줄 요약: 공식 예제는 재생기, 수정 코드는 녹화기 + 저장기 + 재생기</a:t>
            </a:r>
            <a:endParaRPr lang="en-US" sz="1480" dirty="0"/>
          </a:p>
        </p:txBody>
      </p:sp>
      <p:sp>
        <p:nvSpPr>
          <p:cNvPr id="38" name="Text 36"/>
          <p:cNvSpPr/>
          <p:nvPr/>
        </p:nvSpPr>
        <p:spPr>
          <a:xfrm>
            <a:off x="11448288" y="64556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B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6848" y="310896"/>
            <a:ext cx="164592" cy="164592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94592" y="310896"/>
            <a:ext cx="164592" cy="164592"/>
          </a:xfrm>
          <a:prstGeom prst="rect">
            <a:avLst/>
          </a:prstGeom>
          <a:solidFill>
            <a:srgbClr val="53E0C6">
              <a:alpha val="90000"/>
            </a:srgbClr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9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 MINI STUDY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58521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 순서와 기대 결과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0584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33472" y="2304288"/>
            <a:ext cx="676656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541264" y="2304288"/>
            <a:ext cx="676656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58200" y="2304288"/>
            <a:ext cx="676656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41248" y="1920240"/>
            <a:ext cx="475488" cy="47548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19751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596896"/>
            <a:ext cx="2395728" cy="2606040"/>
          </a:xfrm>
          <a:prstGeom prst="roundRect">
            <a:avLst>
              <a:gd name="adj" fmla="val 3053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60A5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 재생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914400" y="3218688"/>
            <a:ext cx="19202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F7FAF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python recorded_moves_origin.py -l dance</a:t>
            </a:r>
            <a:endParaRPr lang="en-US" sz="990" dirty="0"/>
          </a:p>
        </p:txBody>
      </p:sp>
      <p:sp>
        <p:nvSpPr>
          <p:cNvPr id="15" name="Text 13"/>
          <p:cNvSpPr/>
          <p:nvPr/>
        </p:nvSpPr>
        <p:spPr>
          <a:xfrm>
            <a:off x="914400" y="42336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HF의 dance 라이브러리를 순서대로 반복 재생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3566160" y="1920240"/>
            <a:ext cx="475488" cy="475488"/>
          </a:xfrm>
          <a:prstGeom prst="ellipse">
            <a:avLst/>
          </a:prstGeom>
          <a:solidFill>
            <a:srgbClr val="53E0C6"/>
          </a:solidFill>
          <a:ln w="12700">
            <a:solidFill>
              <a:srgbClr val="53E0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9751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56432" y="2596896"/>
            <a:ext cx="2395728" cy="2606040"/>
          </a:xfrm>
          <a:prstGeom prst="roundRect">
            <a:avLst>
              <a:gd name="adj" fmla="val 3053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39312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자동 녹화 + 즉시 재생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3639312" y="3218688"/>
            <a:ext cx="19202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F7FAF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python recorded_motion.py demo -o recordings/motion_demo.json</a:t>
            </a:r>
            <a:endParaRPr lang="en-US" sz="990" dirty="0"/>
          </a:p>
        </p:txBody>
      </p:sp>
      <p:sp>
        <p:nvSpPr>
          <p:cNvPr id="21" name="Text 19"/>
          <p:cNvSpPr/>
          <p:nvPr/>
        </p:nvSpPr>
        <p:spPr>
          <a:xfrm>
            <a:off x="3639312" y="42336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데모 포즈를 녹화하고 파일 생성 후 바로 재생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473952" y="1920240"/>
            <a:ext cx="475488" cy="475488"/>
          </a:xfrm>
          <a:prstGeom prst="ellipse">
            <a:avLst/>
          </a:prstGeom>
          <a:solidFill>
            <a:srgbClr val="F7C873"/>
          </a:solidFill>
          <a:ln w="12700">
            <a:solidFill>
              <a:srgbClr val="F7C8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19751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64224" y="2596896"/>
            <a:ext cx="2395728" cy="2606040"/>
          </a:xfrm>
          <a:prstGeom prst="roundRect">
            <a:avLst>
              <a:gd name="adj" fmla="val 3053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47104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7C8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수동 저장 후 재생</a:t>
            </a:r>
            <a:endParaRPr lang="en-US" sz="1460" dirty="0"/>
          </a:p>
        </p:txBody>
      </p:sp>
      <p:sp>
        <p:nvSpPr>
          <p:cNvPr id="26" name="Text 24"/>
          <p:cNvSpPr/>
          <p:nvPr/>
        </p:nvSpPr>
        <p:spPr>
          <a:xfrm>
            <a:off x="6547104" y="3218688"/>
            <a:ext cx="19202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F7FAF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python recorded_motion.py record --manual -d 5 -o recordings/my_move.json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F7FAF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python recorded_motion.py play -i recordings/my_move.json</a:t>
            </a:r>
            <a:endParaRPr lang="en-US" sz="990" dirty="0"/>
          </a:p>
        </p:txBody>
      </p:sp>
      <p:sp>
        <p:nvSpPr>
          <p:cNvPr id="27" name="Text 25"/>
          <p:cNvSpPr/>
          <p:nvPr/>
        </p:nvSpPr>
        <p:spPr>
          <a:xfrm>
            <a:off x="6547104" y="42336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현재 포즈를 샘플링해 JSON 저장 후 다시 재생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9381744" y="1920240"/>
            <a:ext cx="475488" cy="47548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81744" y="197510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02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272016" y="2596896"/>
            <a:ext cx="2395728" cy="2606040"/>
          </a:xfrm>
          <a:prstGeom prst="roundRect">
            <a:avLst>
              <a:gd name="adj" fmla="val 3053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454896" y="28163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60" b="1" dirty="0">
                <a:solidFill>
                  <a:srgbClr val="F472B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내 코드에서 HF 재생</a:t>
            </a:r>
            <a:endParaRPr lang="en-US" sz="1460" dirty="0"/>
          </a:p>
        </p:txBody>
      </p:sp>
      <p:sp>
        <p:nvSpPr>
          <p:cNvPr id="32" name="Text 30"/>
          <p:cNvSpPr/>
          <p:nvPr/>
        </p:nvSpPr>
        <p:spPr>
          <a:xfrm>
            <a:off x="9454896" y="3218688"/>
            <a:ext cx="19202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F7FAFC"/>
                </a:solidFill>
                <a:latin typeface="Noto Sans Mono CJK KR" pitchFamily="34" charset="0"/>
                <a:ea typeface="Noto Sans Mono CJK KR" pitchFamily="34" charset="-122"/>
                <a:cs typeface="Noto Sans Mono CJK KR" pitchFamily="34" charset="-120"/>
              </a:rPr>
              <a:t>python recorded_motion.py hf-play -l emotions</a:t>
            </a:r>
            <a:endParaRPr lang="en-US" sz="990" dirty="0"/>
          </a:p>
        </p:txBody>
      </p:sp>
      <p:sp>
        <p:nvSpPr>
          <p:cNvPr id="33" name="Text 31"/>
          <p:cNvSpPr/>
          <p:nvPr/>
        </p:nvSpPr>
        <p:spPr>
          <a:xfrm>
            <a:off x="9454896" y="423367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저장과 허브 재생을 한 파일에서 모두 처리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1965960" y="5650992"/>
            <a:ext cx="8321040" cy="640080"/>
          </a:xfrm>
          <a:prstGeom prst="roundRect">
            <a:avLst>
              <a:gd name="adj" fmla="val 17143"/>
            </a:avLst>
          </a:prstGeom>
          <a:solidFill>
            <a:srgbClr val="132336"/>
          </a:solidFill>
          <a:ln w="12700">
            <a:solidFill>
              <a:srgbClr val="2A3A5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12848" y="5852160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 포인트: “공식 재생 → 내 녹화 → 내 저장 → 내 재생 → 다시 HF 재생” 순서로 보여 주면 구조 차이가 선명해진다.</a:t>
            </a:r>
            <a:endParaRPr lang="en-US" sz="1380" dirty="0"/>
          </a:p>
        </p:txBody>
      </p:sp>
      <p:sp>
        <p:nvSpPr>
          <p:cNvPr id="36" name="Text 34"/>
          <p:cNvSpPr/>
          <p:nvPr/>
        </p:nvSpPr>
        <p:spPr>
          <a:xfrm>
            <a:off x="11448288" y="64556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B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56848" y="310896"/>
            <a:ext cx="164592" cy="164592"/>
          </a:xfrm>
          <a:prstGeom prst="rect">
            <a:avLst/>
          </a:prstGeom>
          <a:solidFill>
            <a:srgbClr val="60A5FA">
              <a:alpha val="9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94592" y="310896"/>
            <a:ext cx="164592" cy="164592"/>
          </a:xfrm>
          <a:prstGeom prst="rect">
            <a:avLst/>
          </a:prstGeom>
          <a:solidFill>
            <a:srgbClr val="53E0C6">
              <a:alpha val="90000"/>
            </a:srgbClr>
          </a:solidFill>
          <a:ln w="12700">
            <a:solidFill>
              <a:srgbClr val="53E0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291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REACHY MINI STUDY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585216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마무리: 핵심 정리와 예상 질문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1115568"/>
            <a:ext cx="1005840" cy="0"/>
          </a:xfrm>
          <a:prstGeom prst="line">
            <a:avLst/>
          </a:prstGeom>
          <a:noFill/>
          <a:ln w="31750">
            <a:solidFill>
              <a:srgbClr val="53E0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81328"/>
            <a:ext cx="5596128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78992" y="173736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60A5FA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정리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1078992" y="215798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21762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예제는 HF dataset의 움직임을 재생하는 플레이어다.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78992" y="29077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C87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54480" y="29260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`RecordedMove`가 JSON 기반 데이터를 Move 객체로 연결한다.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8992" y="365760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72B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6758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수정 코드는 녹화 + 저장 + 재생까지 한 파일에서 실습할 수 있게 확장했다.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060704" y="4617720"/>
            <a:ext cx="5084064" cy="987552"/>
          </a:xfrm>
          <a:prstGeom prst="roundRect">
            <a:avLst>
              <a:gd name="adj" fmla="val 11111"/>
            </a:avLst>
          </a:prstGeom>
          <a:solidFill>
            <a:srgbClr val="17324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4882896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한 문장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공식 예제 = 재생기 / 수정 코드 = 녹화기 + 저장기 + 재생기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711696" y="1481328"/>
            <a:ext cx="4681728" cy="4526280"/>
          </a:xfrm>
          <a:prstGeom prst="roundRect">
            <a:avLst>
              <a:gd name="adj" fmla="val 1616"/>
            </a:avLst>
          </a:prstGeom>
          <a:solidFill>
            <a:srgbClr val="0F172A"/>
          </a:solidFill>
          <a:ln w="12700">
            <a:solidFill>
              <a:srgbClr val="2A3A59"/>
            </a:solidFill>
            <a:prstDash val="solid"/>
          </a:ln>
          <a:effectLst>
            <a:outerShdw sx="100000" sy="100000" kx="0" ky="0" algn="bl" rotWithShape="0" blurRad="25400" dist="1524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67728" y="17373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53E0C6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예상 질문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6967728" y="208483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`mini.start_recording()`은 본체에 있나?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967728" y="23957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동작 기록은 로봇 제어 기능이고, 오디오는 `mini.media`가 담당하는 장치 I/O이기 때문</a:t>
            </a:r>
            <a:endParaRPr lang="en-US" sz="1160" dirty="0"/>
          </a:p>
        </p:txBody>
      </p:sp>
      <p:sp>
        <p:nvSpPr>
          <p:cNvPr id="21" name="Shape 19"/>
          <p:cNvSpPr/>
          <p:nvPr/>
        </p:nvSpPr>
        <p:spPr>
          <a:xfrm>
            <a:off x="6967728" y="2816352"/>
            <a:ext cx="3886200" cy="0"/>
          </a:xfrm>
          <a:prstGeom prst="line">
            <a:avLst/>
          </a:prstGeom>
          <a:noFill/>
          <a:ln w="12700">
            <a:solidFill>
              <a:srgbClr val="2A3A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295351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`RecordedMove`는 JSON을 그대로 재생하나?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6967728" y="32644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`json.loads()`로 만든 dict를 Move 객체로 감싸서 `play_move()`에 넘긴다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6967728" y="3685032"/>
            <a:ext cx="3886200" cy="0"/>
          </a:xfrm>
          <a:prstGeom prst="line">
            <a:avLst/>
          </a:prstGeom>
          <a:noFill/>
          <a:ln w="12700">
            <a:solidFill>
              <a:srgbClr val="2A3A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67728" y="38221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왜 `no_media`를 썼나?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6967728" y="413308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미디어 초기화 문제를 피하면서도 robot control은 그대로 사용하기 위해</a:t>
            </a:r>
            <a:endParaRPr lang="en-US" sz="1160" dirty="0"/>
          </a:p>
        </p:txBody>
      </p:sp>
      <p:sp>
        <p:nvSpPr>
          <p:cNvPr id="27" name="Shape 25"/>
          <p:cNvSpPr/>
          <p:nvPr/>
        </p:nvSpPr>
        <p:spPr>
          <a:xfrm>
            <a:off x="6967728" y="4553712"/>
            <a:ext cx="3886200" cy="0"/>
          </a:xfrm>
          <a:prstGeom prst="line">
            <a:avLst/>
          </a:prstGeom>
          <a:noFill/>
          <a:ln w="12700">
            <a:solidFill>
              <a:srgbClr val="2A3A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67728" y="469087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7FAF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`RecordedMoves`는 무엇인가?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6967728" y="500176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6CC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여러 `RecordedMove`를 목록 조회하고 꺼내 주는 컬렉션 객체</a:t>
            </a:r>
            <a:endParaRPr lang="en-US" sz="1160" dirty="0"/>
          </a:p>
        </p:txBody>
      </p:sp>
      <p:sp>
        <p:nvSpPr>
          <p:cNvPr id="30" name="Text 28"/>
          <p:cNvSpPr/>
          <p:nvPr/>
        </p:nvSpPr>
        <p:spPr>
          <a:xfrm>
            <a:off x="11448288" y="6455664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B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Reachy Mini 동작 녹화와 재생</dc:title>
  <dc:subject>Reachy Mini 동작 녹화와 재생</dc:subject>
  <dc:creator>OpenAI</dc:creator>
  <cp:lastModifiedBy>OpenAI</cp:lastModifiedBy>
  <cp:revision>1</cp:revision>
  <dcterms:created xsi:type="dcterms:W3CDTF">2026-04-18T00:36:34Z</dcterms:created>
  <dcterms:modified xsi:type="dcterms:W3CDTF">2026-04-18T00:36:34Z</dcterms:modified>
</cp:coreProperties>
</file>